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2011680"/>
            <a:ext cx="54864" cy="1097280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公务用车管理信息系统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7432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C4FF"/>
                </a:solidFill>
              </a:defRPr>
            </a:pPr>
            <a:r>
              <a:t>项目建设方案汇报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4747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—— 车辆全生命周期数字化管理平台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754880"/>
            <a:ext cx="3200400" cy="18288"/>
          </a:xfrm>
          <a:prstGeom prst="rect">
            <a:avLst/>
          </a:prstGeom>
          <a:solidFill>
            <a:srgbClr val="557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BB"/>
                </a:solidFill>
              </a:defRPr>
            </a:pPr>
            <a: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一、建设背景与必要性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210312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</a:defRPr>
            </a:pPr>
            <a:r>
              <a:t>政策背景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  党的十八大以来，中央持续推进公务用车制度改革，要求规范公务用车配备使用管理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  《党政机关公务用车管理办法》明确要求建立公务用车管理信息系统，实现全流程监管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  国资委要求央企加快推进数字化转型，以信息化手段提升管理效能和合规水平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  中央八项规定精神持续深化，对公务用车使用管理提出了更高的纪律要求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486400" cy="21031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2828"/>
                </a:solidFill>
              </a:defRPr>
            </a:pPr>
            <a:r>
              <a:t>当前管理中的突出问题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  信息孤岛：车辆、驾驶员、费用等数据分散在不同部门，缺乏统一管理平台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  审批滞后：纸质审批流程长、效率低，审批记录难以追溯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14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  调度困难：车辆状态不透明，调度靠人工沟通，空置与短缺并存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88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  监管不足：用车行为缺乏有效监督，违规用车难以发现和处置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11247120" cy="36576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</a:defRPr>
            </a:pPr>
            <a:r>
              <a:t>建设必要性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34840"/>
            <a:ext cx="45720" cy="228600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2828"/>
                </a:solidFill>
              </a:defRPr>
            </a:pPr>
            <a:r>
              <a:t>落实政策要求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4165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贯彻中央关于公务用车制度改革的决策部署，以信息化手段推动管理规范化、制度化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00600"/>
            <a:ext cx="45720" cy="228600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7823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2828"/>
                </a:solidFill>
              </a:defRPr>
            </a:pPr>
            <a:r>
              <a:t>提升管理效能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78231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实现车辆、驾驶员、调度、费用等信息一体化管理，大幅提升工作效率和管理精细化水平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166360"/>
            <a:ext cx="45720" cy="228600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1480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2828"/>
                </a:solidFill>
              </a:defRPr>
            </a:pPr>
            <a:r>
              <a:t>强化合规监管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14807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建立全流程留痕、可追溯的管理机制，为纪检监察和审计工作提供有力支撑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532120"/>
            <a:ext cx="45720" cy="228600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5138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2828"/>
                </a:solidFill>
              </a:defRPr>
            </a:pPr>
            <a:r>
              <a:t>降低运行成本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51383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通过数据分析优化车辆配置和调度方案，有效降低公务用车运行维护成本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二、系统总体规划设计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</a:defRPr>
            </a:pPr>
            <a:r>
              <a:t>系统定位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构建覆盖集团总部及下属分公司的统一的公务用车管理信息平台，实现车辆"从购置到报废"的全生命周期管理和用车"从申请到结算"的全业务流程闭环，为管理决策提供数据支撑，为合规监管提供技术保障。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</a:defRPr>
            </a:pPr>
            <a:r>
              <a:t>设计原则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265176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09EFF"/>
                </a:solidFill>
              </a:defRPr>
            </a:pPr>
            <a:r>
              <a:t>规范统一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4903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03030"/>
                </a:solidFill>
              </a:defRPr>
            </a:pPr>
            <a:r>
              <a:t>严格遵循公务用车管理相关制度规定，</a:t>
            </a:r>
            <a:br/>
            <a:r>
              <a:t>建立标准化的业务流程和数据规范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3200400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3200400"/>
            <a:ext cx="265176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7C23A"/>
                </a:solidFill>
              </a:defRPr>
            </a:pPr>
            <a:r>
              <a:t>安全可控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4903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03030"/>
                </a:solidFill>
              </a:defRPr>
            </a:pPr>
            <a:r>
              <a:t>分级授权、操作留痕、数据加密，</a:t>
            </a:r>
            <a:br/>
            <a:r>
              <a:t>确保系统安全可靠运行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200400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200400"/>
            <a:ext cx="265176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A23C"/>
                </a:solidFill>
              </a:defRPr>
            </a:pPr>
            <a:r>
              <a:t>便捷高效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4903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03030"/>
                </a:solidFill>
              </a:defRPr>
            </a:pPr>
            <a:r>
              <a:t>优化审批流程、简化操作步骤，</a:t>
            </a:r>
            <a:br/>
            <a:r>
              <a:t>提升各级人员使用体验和工作效率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3200400"/>
            <a:ext cx="26517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3200400"/>
            <a:ext cx="2651760" cy="54864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383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2828"/>
                </a:solidFill>
              </a:defRPr>
            </a:pPr>
            <a:r>
              <a:t>数据驱动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74903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03030"/>
                </a:solidFill>
              </a:defRPr>
            </a:pPr>
            <a:r>
              <a:t>汇聚车辆运营全维度数据，</a:t>
            </a:r>
            <a:br/>
            <a:r>
              <a:t>为管理决策提供科学依据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37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</a:defRPr>
            </a:pPr>
            <a:r>
              <a:t>覆盖范围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49240"/>
            <a:ext cx="2651760" cy="118872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440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</a:defRPr>
            </a:pPr>
            <a:r>
              <a:t>组织层级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760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03030"/>
                </a:solidFill>
              </a:defRPr>
            </a:pPr>
            <a:r>
              <a:t>集团总部 → 分公司 → 部门</a:t>
            </a:r>
            <a:br/>
            <a:r>
              <a:t>三级架构全覆盖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5349240"/>
            <a:ext cx="2651760" cy="118872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5440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</a:defRPr>
            </a:pPr>
            <a:r>
              <a:t>业务范围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5760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03030"/>
                </a:solidFill>
              </a:defRPr>
            </a:pPr>
            <a:r>
              <a:t>车辆管理|用车审批|调度派车</a:t>
            </a:r>
            <a:br/>
            <a:r>
              <a:t>行程记录|费用结算|运营维护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5349240"/>
            <a:ext cx="2651760" cy="118872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440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</a:defRPr>
            </a:pPr>
            <a:r>
              <a:t>角色覆盖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760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03030"/>
                </a:solidFill>
              </a:defRPr>
            </a:pPr>
            <a:r>
              <a:t>管理员|员工|部门负责人</a:t>
            </a:r>
            <a:br/>
            <a:r>
              <a:t>调度员|司机|分管领导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5349240"/>
            <a:ext cx="2651760" cy="118872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5440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</a:defRPr>
            </a:pPr>
            <a:r>
              <a:t>车辆类型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760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03030"/>
                </a:solidFill>
              </a:defRPr>
            </a:pPr>
            <a:r>
              <a:t>轿车|SUV|商务车</a:t>
            </a:r>
            <a:br/>
            <a:r>
              <a:t>中型客车|大型客车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三、核心业务流程设计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828800"/>
            <a:ext cx="1554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828800"/>
            <a:ext cx="15544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965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09EFF"/>
                </a:solidFill>
              </a:defRPr>
            </a:pPr>
            <a:r>
              <a:t>Step 1</a:t>
            </a:r>
            <a:br/>
            <a:r>
              <a:t>用车申请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46888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03030"/>
                </a:solidFill>
              </a:defRPr>
            </a:pPr>
            <a:r>
              <a:t>员工线上提交</a:t>
            </a:r>
            <a:br/>
            <a:r>
              <a:t>选择用车类型</a:t>
            </a:r>
            <a:br/>
            <a:r>
              <a:t>填写行程信息</a:t>
            </a:r>
            <a:br/>
            <a:r>
              <a:t>系统自动校验合规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EFF"/>
                </a:solidFill>
              </a:defRPr>
            </a:pPr>
            <a: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1952" y="1828800"/>
            <a:ext cx="1554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01952" y="1828800"/>
            <a:ext cx="15544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7672" y="1965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09EFF"/>
                </a:solidFill>
              </a:defRPr>
            </a:pPr>
            <a:r>
              <a:t>Step 2</a:t>
            </a:r>
            <a:br/>
            <a:r>
              <a:t>部门审批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6888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03030"/>
                </a:solidFill>
              </a:defRPr>
            </a:pPr>
            <a:r>
              <a:t>部门负责人审核</a:t>
            </a:r>
            <a:br/>
            <a:r>
              <a:t>核对用车合理性</a:t>
            </a:r>
            <a:br/>
            <a:r>
              <a:t>可选择通过或驳回</a:t>
            </a:r>
            <a:br/>
            <a:r>
              <a:t>注明审批意见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EFF"/>
                </a:solidFill>
              </a:defRPr>
            </a:pPr>
            <a: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21024" y="1828800"/>
            <a:ext cx="1554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21024" y="1828800"/>
            <a:ext cx="15544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1965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09EFF"/>
                </a:solidFill>
              </a:defRPr>
            </a:pPr>
            <a:r>
              <a:t>Step 3</a:t>
            </a:r>
            <a:br/>
            <a:r>
              <a:t>领导审批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46888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03030"/>
                </a:solidFill>
              </a:defRPr>
            </a:pPr>
            <a:r>
              <a:t>分管领导终审</a:t>
            </a:r>
            <a:br/>
            <a:r>
              <a:t>重点把关合规性</a:t>
            </a:r>
            <a:br/>
            <a:r>
              <a:t>确认通过或驳回</a:t>
            </a:r>
            <a:br/>
            <a:r>
              <a:t>审批记录自动存档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EFF"/>
                </a:solidFill>
              </a:defRPr>
            </a:pPr>
            <a: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0096" y="1828800"/>
            <a:ext cx="1554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40096" y="1828800"/>
            <a:ext cx="155448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85816" y="1965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A23C"/>
                </a:solidFill>
              </a:defRPr>
            </a:pPr>
            <a:r>
              <a:t>Step 4</a:t>
            </a:r>
            <a:br/>
            <a:r>
              <a:t>车辆调度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246888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03030"/>
                </a:solidFill>
              </a:defRPr>
            </a:pPr>
            <a:r>
              <a:t>调度员在线派车</a:t>
            </a:r>
            <a:br/>
            <a:r>
              <a:t>匹配可用车辆和驾驶员</a:t>
            </a:r>
            <a:br/>
            <a:r>
              <a:t>确认出车信息</a:t>
            </a:r>
            <a:br/>
            <a:r>
              <a:t>系统自动更新车辆状态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EFF"/>
                </a:solidFill>
              </a:defRPr>
            </a:pPr>
            <a: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9168" y="1828800"/>
            <a:ext cx="1554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59168" y="1828800"/>
            <a:ext cx="155448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888" y="1965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7C23A"/>
                </a:solidFill>
              </a:defRPr>
            </a:pPr>
            <a:r>
              <a:t>Step 5</a:t>
            </a:r>
            <a:br/>
            <a:r>
              <a:t>出车执行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46888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03030"/>
                </a:solidFill>
              </a:defRPr>
            </a:pPr>
            <a:r>
              <a:t>驾驶员确认出车</a:t>
            </a:r>
            <a:br/>
            <a:r>
              <a:t>记录起始里程数</a:t>
            </a:r>
            <a:br/>
            <a:r>
              <a:t>执行用车任务</a:t>
            </a:r>
            <a:br/>
            <a:r>
              <a:t>全程行车记录可查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7928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EFF"/>
                </a:solidFill>
              </a:defRPr>
            </a:pPr>
            <a: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1828800"/>
            <a:ext cx="1554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78240" y="1828800"/>
            <a:ext cx="155448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1965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7C23A"/>
                </a:solidFill>
              </a:defRPr>
            </a:pPr>
            <a:r>
              <a:t>Step 6</a:t>
            </a:r>
            <a:br/>
            <a:r>
              <a:t>归库登记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246888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03030"/>
                </a:solidFill>
              </a:defRPr>
            </a:pPr>
            <a:r>
              <a:t>驾驶员确认归库</a:t>
            </a:r>
            <a:br/>
            <a:r>
              <a:t>记录终止里程数</a:t>
            </a:r>
            <a:br/>
            <a:r>
              <a:t>系统自动计算里程</a:t>
            </a:r>
            <a:br/>
            <a:r>
              <a:t>车辆状态恢复可用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EFF"/>
                </a:solidFill>
              </a:defRPr>
            </a:pPr>
            <a:r>
              <a:t>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97312" y="1828800"/>
            <a:ext cx="1554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497312" y="1828800"/>
            <a:ext cx="155448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43032" y="1965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7C23A"/>
                </a:solidFill>
              </a:defRPr>
            </a:pPr>
            <a:r>
              <a:t>Step 7</a:t>
            </a:r>
            <a:br/>
            <a:r>
              <a:t>费用结算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70464" y="2468880"/>
            <a:ext cx="1417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03030"/>
                </a:solidFill>
              </a:defRPr>
            </a:pPr>
            <a:r>
              <a:t>录入相关费用</a:t>
            </a:r>
            <a:br/>
            <a:r>
              <a:t>关联用车申请单</a:t>
            </a:r>
            <a:br/>
            <a:r>
              <a:t>在线提交报销</a:t>
            </a:r>
            <a:br/>
            <a:r>
              <a:t>财务审核入账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931920"/>
            <a:ext cx="1161288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114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</a:defRPr>
            </a:pPr>
            <a:r>
              <a:t>设计与解决的问题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5262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2828"/>
                </a:solidFill>
              </a:defRPr>
            </a:pPr>
            <a:r>
              <a:t>问题一：审批效率低、周期长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52628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线上审批替代纸质流转，审批人可随时随地处理，审批周期从数天缩短至数小时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846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2828"/>
                </a:solidFill>
              </a:defRPr>
            </a:pPr>
            <a:r>
              <a:t>问题二：车辆调度不透明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84632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实时展示车辆状态和可用性，调度员一站式完成匹配，消除信息不对称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1663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2828"/>
                </a:solidFill>
              </a:defRPr>
            </a:pPr>
            <a:r>
              <a:t>问题三：用车行为难监管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16636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全流程操作留痕，纪检监察人员可随时查阅任一环节，违规用车无处遁形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4864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2828"/>
                </a:solidFill>
              </a:defRPr>
            </a:pPr>
            <a:r>
              <a:t>问题四：费用管理分散混乱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548640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费用统一关联用车申请，自动汇总统计，预算执行情况一目了然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四、功能模块介绍（上）—— 核心业务模块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26974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69748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0" y="1554480"/>
            <a:ext cx="640080" cy="22860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5544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B"/>
                </a:solidFill>
              </a:defRPr>
            </a:pPr>
            <a:r>
              <a:t>车辆档案管理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建立车辆电子档案，记录购置信息、</a:t>
            </a:r>
            <a:br/>
            <a:r>
              <a:t>技术参数、保险年检、维修保养等</a:t>
            </a:r>
            <a:br/>
            <a:r>
              <a:t>全生命周期数据，一车一档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463040"/>
            <a:ext cx="26974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73552" y="1463040"/>
            <a:ext cx="269748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93792" y="1554480"/>
            <a:ext cx="640080" cy="22860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5544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1645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B"/>
                </a:solidFill>
              </a:defRPr>
            </a:pPr>
            <a:r>
              <a:t>驾驶员信息管理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210312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驾驶员基础档案、驾驶证信息、</a:t>
            </a:r>
            <a:br/>
            <a:r>
              <a:t>健康状况、培训记录、违规记录等</a:t>
            </a:r>
            <a:br/>
            <a:r>
              <a:t>统一管理，资质到期自动提醒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463040"/>
            <a:ext cx="26974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463040"/>
            <a:ext cx="26974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4" y="1554480"/>
            <a:ext cx="640080" cy="2286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4" y="15544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645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B"/>
                </a:solidFill>
              </a:defRPr>
            </a:pPr>
            <a:r>
              <a:t>用车申请管理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210312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支持6种业务场景的在线申请，</a:t>
            </a:r>
            <a:br/>
            <a:r>
              <a:t>系统自动校验合规性，关联车辆</a:t>
            </a:r>
            <a:br/>
            <a:r>
              <a:t>编制配额，提高申请规范性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89136" y="1463040"/>
            <a:ext cx="26974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1463040"/>
            <a:ext cx="26974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09376" y="1554480"/>
            <a:ext cx="640080" cy="2286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09376" y="15544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16459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B"/>
                </a:solidFill>
              </a:defRPr>
            </a:pPr>
            <a:r>
              <a:t>用车审批管理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210312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两级审批机制（部门负责人初审</a:t>
            </a:r>
            <a:br/>
            <a:r>
              <a:t>+ 分管领导终审），支持通过、</a:t>
            </a:r>
            <a:br/>
            <a:r>
              <a:t>驳回并注明意见，审批留痕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69080"/>
            <a:ext cx="26974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069080"/>
            <a:ext cx="26974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0" y="4160520"/>
            <a:ext cx="640080" cy="2286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4160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251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B"/>
                </a:solidFill>
              </a:defRPr>
            </a:pPr>
            <a:r>
              <a:t>车辆调度管理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70916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可视化展示车辆和驾驶员可用状态，</a:t>
            </a:r>
            <a:br/>
            <a:r>
              <a:t>调度员在线完成车辆-驾驶员匹配，</a:t>
            </a:r>
            <a:br/>
            <a:r>
              <a:t>自动更新车辆状态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73552" y="4069080"/>
            <a:ext cx="26974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73552" y="4069080"/>
            <a:ext cx="26974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3792" y="4160520"/>
            <a:ext cx="640080" cy="22860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93792" y="4160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0712" y="4251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B"/>
                </a:solidFill>
              </a:defRPr>
            </a:pPr>
            <a:r>
              <a:t>出车归库管理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0712" y="470916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驾驶员出车前确认车辆状态并记录</a:t>
            </a:r>
            <a:br/>
            <a:r>
              <a:t>起始里程，归库时记录终止里程，</a:t>
            </a:r>
            <a:br/>
            <a:r>
              <a:t>系统自动计算行驶里程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1344" y="4069080"/>
            <a:ext cx="26974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81344" y="4069080"/>
            <a:ext cx="269748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01584" y="4160520"/>
            <a:ext cx="640080" cy="2286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01584" y="4160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4251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B"/>
                </a:solidFill>
              </a:defRPr>
            </a:pPr>
            <a:r>
              <a:t>费用管理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8504" y="470916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统一记录油费、维修费、保险费、</a:t>
            </a:r>
            <a:br/>
            <a:r>
              <a:t>路桥费等各类费用，支持费用审核</a:t>
            </a:r>
            <a:br/>
            <a:r>
              <a:t>和报销流程，自动生成费用报表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89136" y="4069080"/>
            <a:ext cx="26974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89136" y="4069080"/>
            <a:ext cx="269748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009376" y="4160520"/>
            <a:ext cx="640080" cy="2286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009376" y="4160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26296" y="4251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B"/>
                </a:solidFill>
              </a:defRPr>
            </a:pPr>
            <a:r>
              <a:t>行程记录查询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26296" y="4709160"/>
            <a:ext cx="2423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完整记录每次用车行程信息，</a:t>
            </a:r>
            <a:br/>
            <a:r>
              <a:t>支持按车辆、驾驶员、时间段等</a:t>
            </a:r>
            <a:br/>
            <a:r>
              <a:t>多维度查询和统计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四、功能模块介绍（下）—— 支撑与监管模块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61188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0" y="1554480"/>
            <a:ext cx="640080" cy="2286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5544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B"/>
                </a:solidFill>
              </a:defRPr>
            </a:pPr>
            <a:r>
              <a:t>车辆状态监控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实时掌握车辆使用状态和位置，</a:t>
            </a:r>
            <a:br/>
            <a:r>
              <a:t>空闲/出车/维修/停运一目了然，</a:t>
            </a:r>
            <a:br/>
            <a:r>
              <a:t>异常状态自动提醒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46304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463040"/>
            <a:ext cx="361188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59168" y="1554480"/>
            <a:ext cx="640080" cy="22860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15544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B"/>
                </a:solidFill>
              </a:defRPr>
            </a:pPr>
            <a:r>
              <a:t>车辆运营管理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10312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统一管理加油记录、维修保养、</a:t>
            </a:r>
            <a:br/>
            <a:r>
              <a:t>保险台账、年检记录、违章处理，</a:t>
            </a:r>
            <a:br/>
            <a:r>
              <a:t>运营数据一目了然，到期自动提醒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3296" y="146304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463040"/>
            <a:ext cx="361188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17936" y="1554480"/>
            <a:ext cx="640080" cy="22860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17936" y="15544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645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B"/>
                </a:solidFill>
              </a:defRPr>
            </a:pPr>
            <a:r>
              <a:t>驾驶员培训管理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10312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培训计划制定、培训执行记录、</a:t>
            </a:r>
            <a:br/>
            <a:r>
              <a:t>考核结果管理，支持8种培训类型，</a:t>
            </a:r>
            <a:br/>
            <a:r>
              <a:t>培训状态与驾驶资格联动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6908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069080"/>
            <a:ext cx="361188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4160520"/>
            <a:ext cx="640080" cy="2286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4160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B"/>
                </a:solidFill>
              </a:defRPr>
            </a:pPr>
            <a:r>
              <a:t>统计分析报表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70916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提供车辆使用率、费用趋势、</a:t>
            </a:r>
            <a:br/>
            <a:r>
              <a:t>里程统计等多维度分析报表，</a:t>
            </a:r>
            <a:br/>
            <a:r>
              <a:t>支持数据导出和图示展示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406908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24528" y="4069080"/>
            <a:ext cx="3611880" cy="54864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59168" y="4160520"/>
            <a:ext cx="640080" cy="228600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9168" y="4160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B"/>
                </a:solidFill>
              </a:defRPr>
            </a:pPr>
            <a:r>
              <a:t>权限角色管理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470916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支持管理员、员工、部门负责人、</a:t>
            </a:r>
            <a:br/>
            <a:r>
              <a:t>调度员、驾驶员、</a:t>
            </a:r>
            <a:br/>
            <a:r>
              <a:t>分管领导等6种固化角色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3296" y="406908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83296" y="4069080"/>
            <a:ext cx="361188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17936" y="4160520"/>
            <a:ext cx="640080" cy="2286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17936" y="4160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6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B"/>
                </a:solidFill>
              </a:defRPr>
            </a:pPr>
            <a:r>
              <a:t>通知消息管理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6" y="4709160"/>
            <a:ext cx="3246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审批提醒、到期预警、异常告警</a:t>
            </a:r>
            <a:br/>
            <a:r>
              <a:t>等关键节点消息推送，确保</a:t>
            </a:r>
            <a:br/>
            <a:r>
              <a:t>重要信息及时传达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P0 = 核心功能（优先实现及上线）    P1 = 辅助功能（逐步完善优化）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五、角色权限与安全管理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</a:defRPr>
            </a:pPr>
            <a:r>
              <a:t>6种固化角色，各司其职、权责分明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26974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26974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148840"/>
            <a:ext cx="640080" cy="64008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A6B"/>
                </a:solidFill>
              </a:defRPr>
            </a:pPr>
            <a:r>
              <a:t>系统管理员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负责系统配置、用户管理和</a:t>
            </a:r>
            <a:br/>
            <a:r>
              <a:t>角色权限分配，不参与业务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920240"/>
            <a:ext cx="26974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920240"/>
            <a:ext cx="269748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57800" y="2148840"/>
            <a:ext cx="640080" cy="64008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2286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260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A6B"/>
                </a:solidFill>
              </a:defRPr>
            </a:pPr>
            <a:r>
              <a:t>普通员工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46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提交用车申请、查看个人</a:t>
            </a:r>
            <a:br/>
            <a:r>
              <a:t>申请记录和审批进度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920240"/>
            <a:ext cx="26974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920240"/>
            <a:ext cx="269748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0" y="2148840"/>
            <a:ext cx="640080" cy="640080"/>
          </a:xfrm>
          <a:prstGeom prst="ellipse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286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9260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A6B"/>
                </a:solidFill>
              </a:defRPr>
            </a:pPr>
            <a:r>
              <a:t>部门负责人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246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审核本部门用车申请，</a:t>
            </a:r>
            <a:br/>
            <a:r>
              <a:t>管理本部门人员和车辆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06240"/>
            <a:ext cx="26974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206240"/>
            <a:ext cx="2697480" cy="54864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71600" y="4434840"/>
            <a:ext cx="640080" cy="640080"/>
          </a:xfrm>
          <a:prstGeom prst="ellipse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572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120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A6B"/>
                </a:solidFill>
              </a:defRPr>
            </a:pPr>
            <a:r>
              <a:t>分管领导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32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对用车申请进行终审，</a:t>
            </a:r>
            <a:br/>
            <a:r>
              <a:t>查看分管范围内的全局数据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4206240"/>
            <a:ext cx="26974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4206240"/>
            <a:ext cx="26974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57800" y="4434840"/>
            <a:ext cx="640080" cy="64008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4572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2120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A6B"/>
                </a:solidFill>
              </a:defRPr>
            </a:pPr>
            <a:r>
              <a:t>车队调度员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532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管理车辆和驾驶员调度，</a:t>
            </a:r>
            <a:br/>
            <a:r>
              <a:t>负责派车、调整和协调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4206240"/>
            <a:ext cx="26974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4206240"/>
            <a:ext cx="269748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44000" y="4434840"/>
            <a:ext cx="640080" cy="640080"/>
          </a:xfrm>
          <a:prstGeom prst="ellipse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5720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52120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A6B"/>
                </a:solidFill>
              </a:defRPr>
            </a:pPr>
            <a:r>
              <a:t>驾驶员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553212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执行出车归库确认操作，</a:t>
            </a:r>
            <a:br/>
            <a:r>
              <a:t>记录行程和里程信息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六、系统解决的实际问题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7033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703320" cy="54864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2828"/>
                </a:solidFill>
              </a:defRPr>
            </a:pPr>
            <a:r>
              <a:t>规范用车行为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914400" cy="27432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2828"/>
                </a:solidFill>
              </a:defRPr>
            </a:pPr>
            <a:r>
              <a:t>建设效果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011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030"/>
                </a:solidFill>
              </a:defRPr>
            </a:pPr>
            <a:r>
              <a:t>传统模式依赖纸质审批，监管</a:t>
            </a:r>
            <a:br/>
            <a:r>
              <a:t>滞后；系统实现全流程线上化、</a:t>
            </a:r>
            <a:br/>
            <a:r>
              <a:t>实时化监管，每笔用车可追溯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66"/>
                </a:solidFill>
              </a:defRPr>
            </a:pPr>
            <a:r>
              <a:t>功能设计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建立标准化线上审批流程，杜绝</a:t>
            </a:r>
            <a:br/>
            <a:r>
              <a:t>"先用车后补单"、私自用车等</a:t>
            </a:r>
            <a:br/>
            <a:r>
              <a:t>违规现象，从源头强化合规管理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71600"/>
            <a:ext cx="37033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70332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5448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09EFF"/>
                </a:solidFill>
              </a:defRPr>
            </a:pPr>
            <a:r>
              <a:t>提升管理效率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920240"/>
            <a:ext cx="914400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011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9EFF"/>
                </a:solidFill>
              </a:defRPr>
            </a:pPr>
            <a:r>
              <a:t>建设效果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011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030"/>
                </a:solidFill>
              </a:defRPr>
            </a:pPr>
            <a:r>
              <a:t>传统审批平均耗时2-3个工作日，</a:t>
            </a:r>
            <a:br/>
            <a:r>
              <a:t>系统上线后预计缩短至4小时内，</a:t>
            </a:r>
            <a:br/>
            <a:r>
              <a:t>紧急用车可即时响应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66"/>
                </a:solidFill>
              </a:defRPr>
            </a:pPr>
            <a:r>
              <a:t>功能设计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8892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用车申请、审批、调度全流程线上</a:t>
            </a:r>
            <a:br/>
            <a:r>
              <a:t>流转，审批人通过移动端随时处理，</a:t>
            </a:r>
            <a:br/>
            <a:r>
              <a:t>大幅压缩审批周期，减少等待时间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7033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70332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55448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7C23A"/>
                </a:solidFill>
              </a:defRPr>
            </a:pPr>
            <a:r>
              <a:t>优化资源配置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920240"/>
            <a:ext cx="914400" cy="27432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011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7C23A"/>
                </a:solidFill>
              </a:defRPr>
            </a:pPr>
            <a:r>
              <a:t>建设效果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011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030"/>
                </a:solidFill>
              </a:defRPr>
            </a:pPr>
            <a:r>
              <a:t>通过运营数据分析，辅助优化</a:t>
            </a:r>
            <a:br/>
            <a:r>
              <a:t>车辆编制和采购计划，节约</a:t>
            </a:r>
            <a:br/>
            <a:r>
              <a:t>购置和维护成本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56032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66"/>
                </a:solidFill>
              </a:defRPr>
            </a:pPr>
            <a:r>
              <a:t>功能设计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78892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实时呈现车辆使用状态和闲置情况，</a:t>
            </a:r>
            <a:br/>
            <a:r>
              <a:t>为车辆采购和调配提供数据支撑，</a:t>
            </a:r>
            <a:br/>
            <a:r>
              <a:t>减少不必要的车辆闲置和重复配置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69080"/>
            <a:ext cx="37033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069080"/>
            <a:ext cx="370332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25196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A23C"/>
                </a:solidFill>
              </a:defRPr>
            </a:pPr>
            <a:r>
              <a:t>强化费用管控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17720"/>
            <a:ext cx="914400" cy="27432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709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A23C"/>
                </a:solidFill>
              </a:defRPr>
            </a:pPr>
            <a:r>
              <a:t>建设效果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7091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030"/>
                </a:solidFill>
              </a:defRPr>
            </a:pPr>
            <a:r>
              <a:t>实现费用支出的全流程追踪，</a:t>
            </a:r>
            <a:br/>
            <a:r>
              <a:t>防止不合理开支，为年度预算</a:t>
            </a:r>
            <a:br/>
            <a:r>
              <a:t>编制提供准确数据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25780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66"/>
                </a:solidFill>
              </a:defRPr>
            </a:pPr>
            <a:r>
              <a:t>功能设计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8640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将油费、维修费、保险费等运营费用</a:t>
            </a:r>
            <a:br/>
            <a:r>
              <a:t>纳入统一管理平台，预算执行情况</a:t>
            </a:r>
            <a:br/>
            <a:r>
              <a:t>实时监控，超标自动预警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4069080"/>
            <a:ext cx="37033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06240" y="4069080"/>
            <a:ext cx="3703320" cy="54864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425196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2828"/>
                </a:solidFill>
              </a:defRPr>
            </a:pPr>
            <a:r>
              <a:t>保障合规审计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4617720"/>
            <a:ext cx="914400" cy="27432"/>
          </a:xfrm>
          <a:prstGeom prst="rect">
            <a:avLst/>
          </a:prstGeom>
          <a:solidFill>
            <a:srgbClr val="C0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4709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2828"/>
                </a:solidFill>
              </a:defRPr>
            </a:pPr>
            <a:r>
              <a:t>建设效果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47091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030"/>
                </a:solidFill>
              </a:defRPr>
            </a:pPr>
            <a:r>
              <a:t>纪检人员可调取任意时段、</a:t>
            </a:r>
            <a:br/>
            <a:r>
              <a:t>任意车辆的完整使用记录，</a:t>
            </a:r>
            <a:br/>
            <a:r>
              <a:t>实现精准监督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25780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66"/>
                </a:solidFill>
              </a:defRPr>
            </a:pPr>
            <a:r>
              <a:t>功能设计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48640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系统自动记录每个操作节点的时间、</a:t>
            </a:r>
            <a:br/>
            <a:r>
              <a:t>操作人和操作内容，形成完整的</a:t>
            </a:r>
            <a:br/>
            <a:r>
              <a:t>审计日志，满足纪检监察和审计要求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4069080"/>
            <a:ext cx="37033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8160" y="4069080"/>
            <a:ext cx="370332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425196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09EFF"/>
                </a:solidFill>
              </a:defRPr>
            </a:pPr>
            <a:r>
              <a:t>数据辅助决策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4617720"/>
            <a:ext cx="914400" cy="27432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4709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9EFF"/>
                </a:solidFill>
              </a:defRPr>
            </a:pPr>
            <a:r>
              <a:t>建设效果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47091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030"/>
                </a:solidFill>
              </a:defRPr>
            </a:pPr>
            <a:r>
              <a:t>从"经验管理"向"数据管理"转变，</a:t>
            </a:r>
            <a:br/>
            <a:r>
              <a:t>用数据说话、用数据决策、</a:t>
            </a:r>
            <a:br/>
            <a:r>
              <a:t>用数据管理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25780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66"/>
                </a:solidFill>
              </a:defRPr>
            </a:pPr>
            <a:r>
              <a:t>功能设计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48640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030"/>
                </a:solidFill>
              </a:defRPr>
            </a:pPr>
            <a:r>
              <a:t>汇聚车辆全生命周期运营数据，</a:t>
            </a:r>
            <a:br/>
            <a:r>
              <a:t>生成多维度统计分析报表，</a:t>
            </a:r>
            <a:br/>
            <a:r>
              <a:t>为管理决策提供科学依据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七、实施计划与阶段目标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36118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61188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611880" cy="73152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第一阶段：基础建设（当前阶段）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  完成核心业务流程（申请-审批-调度-出车-归库-费用）的系统开发与联调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35808"/>
            <a:ext cx="269748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  建立车辆档案、驾驶员档案、部门组织架构等基础数据库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538728"/>
            <a:ext cx="269748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61188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  实现6种角色的权限体系，完成用户导入和权限配置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41648"/>
            <a:ext cx="269748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  开展系统功能测试和用户验收测试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463040"/>
            <a:ext cx="36118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463040"/>
            <a:ext cx="361188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1645920"/>
            <a:ext cx="3611880" cy="73152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7373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第二阶段：功能完善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60604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  完善运营管理功能：加油、维修、保险、年检、违章全模块上线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1728" y="3035808"/>
            <a:ext cx="269748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31089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  车辆状态实时监控功能部署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1728" y="3538728"/>
            <a:ext cx="269748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8" y="361188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  统计分析报表和可视化仪表盘开发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1728" y="4041648"/>
            <a:ext cx="269748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411480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  系统操作培训和试运行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1463040"/>
            <a:ext cx="36118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6" y="1463040"/>
            <a:ext cx="361188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3296" y="1645920"/>
            <a:ext cx="3611880" cy="73152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17373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第三阶段：优化推广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260604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  收集用户反馈，迭代优化系统功能和交互体验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40496" y="3035808"/>
            <a:ext cx="269748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310896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  开展全集团推广部署，覆盖所有分公司和部门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0496" y="3538728"/>
            <a:ext cx="269748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1896" y="361188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  探索智能化升级：智能调度、费用预测、异常检测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0496" y="4041648"/>
            <a:ext cx="2697480" cy="914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11896" y="4114800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030"/>
                </a:solidFill>
              </a:defRPr>
            </a:pPr>
            <a:r>
              <a:t>  对接ETC系统、加油卡系统、北斗定位等外部平台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预期建设成效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103120" cy="2286000"/>
          </a:xfrm>
          <a:prstGeom prst="rect">
            <a:avLst/>
          </a:prstGeom>
          <a:solidFill>
            <a:srgbClr val="224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103120" cy="54864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9A2E"/>
                </a:solidFill>
              </a:defRPr>
            </a:pPr>
            <a:r>
              <a:t>管理规范化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CDD"/>
                </a:solidFill>
              </a:defRPr>
            </a:pPr>
            <a:r>
              <a:t>建立统一的公务用车管理制度</a:t>
            </a:r>
            <a:br/>
            <a:r>
              <a:t>和标准化操作流程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463040"/>
            <a:ext cx="2103120" cy="2286000"/>
          </a:xfrm>
          <a:prstGeom prst="rect">
            <a:avLst/>
          </a:prstGeom>
          <a:solidFill>
            <a:srgbClr val="224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1463040"/>
            <a:ext cx="2103120" cy="54864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9A2E"/>
                </a:solidFill>
              </a:defRPr>
            </a:pPr>
            <a:r>
              <a:t>流程高效化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3774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CDD"/>
                </a:solidFill>
              </a:defRPr>
            </a:pPr>
            <a:r>
              <a:t>审批周期从数天缩短至数小时</a:t>
            </a:r>
            <a:br/>
            <a:r>
              <a:t>紧急用车即时响应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463040"/>
            <a:ext cx="2103120" cy="2286000"/>
          </a:xfrm>
          <a:prstGeom prst="rect">
            <a:avLst/>
          </a:prstGeom>
          <a:solidFill>
            <a:srgbClr val="224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463040"/>
            <a:ext cx="2103120" cy="54864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9A2E"/>
                </a:solidFill>
              </a:defRPr>
            </a:pPr>
            <a:r>
              <a:t>监管透明化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3774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CDD"/>
                </a:solidFill>
              </a:defRPr>
            </a:pPr>
            <a:r>
              <a:t>全流程留痕可追溯</a:t>
            </a:r>
            <a:br/>
            <a:r>
              <a:t>纪检审计有据可查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1463040"/>
            <a:ext cx="2103120" cy="2286000"/>
          </a:xfrm>
          <a:prstGeom prst="rect">
            <a:avLst/>
          </a:prstGeom>
          <a:solidFill>
            <a:srgbClr val="224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1463040"/>
            <a:ext cx="2103120" cy="54864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9A2E"/>
                </a:solidFill>
              </a:defRPr>
            </a:pPr>
            <a:r>
              <a:t>决策数据化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3774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CDD"/>
                </a:solidFill>
              </a:defRPr>
            </a:pPr>
            <a:r>
              <a:t>运营数据自动汇总分析</a:t>
            </a:r>
            <a:br/>
            <a:r>
              <a:t>管理决策有科学依据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463040"/>
            <a:ext cx="2103120" cy="2286000"/>
          </a:xfrm>
          <a:prstGeom prst="rect">
            <a:avLst/>
          </a:prstGeom>
          <a:solidFill>
            <a:srgbClr val="224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1463040"/>
            <a:ext cx="2103120" cy="54864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9A2E"/>
                </a:solidFill>
              </a:defRPr>
            </a:pPr>
            <a:r>
              <a:t>成本可控化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3774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CDD"/>
                </a:solidFill>
              </a:defRPr>
            </a:pPr>
            <a:r>
              <a:t>费用预算实时监控</a:t>
            </a:r>
            <a:br/>
            <a:r>
              <a:t>运行成本显著降低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4114800"/>
            <a:ext cx="4846320" cy="18288"/>
          </a:xfrm>
          <a:prstGeom prst="rect">
            <a:avLst/>
          </a:prstGeom>
          <a:solidFill>
            <a:srgbClr val="557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9A2E"/>
                </a:solidFill>
              </a:defRPr>
            </a:pPr>
            <a: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个功能模块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49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9BB"/>
                </a:solidFill>
              </a:defRPr>
            </a:pPr>
            <a:r>
              <a:t>全面覆盖公务用车</a:t>
            </a:r>
            <a:br/>
            <a:r>
              <a:t>管理各业务环节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2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9A2E"/>
                </a:solidFill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4992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种用户角色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5349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9BB"/>
                </a:solidFill>
              </a:defRPr>
            </a:pPr>
            <a:r>
              <a:t>满足各级各类人员</a:t>
            </a:r>
            <a:br/>
            <a:r>
              <a:t>使用需求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9A2E"/>
                </a:solidFill>
              </a:defRPr>
            </a:pPr>
            <a:r>
              <a:t>30+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张数据表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5349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9BB"/>
                </a:solidFill>
              </a:defRPr>
            </a:pPr>
            <a:r>
              <a:t>完整记录车辆全生命</a:t>
            </a:r>
            <a:br/>
            <a:r>
              <a:t>周期运营数据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99A2E"/>
                </a:solidFill>
              </a:defRPr>
            </a:pPr>
            <a:r>
              <a:t>7x24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不间断运行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5349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9BB"/>
                </a:solidFill>
              </a:defRPr>
            </a:pPr>
            <a:r>
              <a:t>随时随地处理审批</a:t>
            </a:r>
            <a:br/>
            <a:r>
              <a:t>提升响应速度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126480"/>
            <a:ext cx="12191695" cy="9144"/>
          </a:xfrm>
          <a:prstGeom prst="rect">
            <a:avLst/>
          </a:prstGeom>
          <a:solidFill>
            <a:srgbClr val="44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0" y="6263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C4FF"/>
                </a:solidFill>
              </a:defRPr>
            </a:pPr>
            <a:r>
              <a:t>恳请各位领导批评指正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